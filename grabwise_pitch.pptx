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1"/>
    <p:sldId id="281" r:id="rId32"/>
    <p:sldId id="257" r:id="rId8"/>
    <p:sldId id="258" r:id="rId9"/>
    <p:sldId id="259" r:id="rId10"/>
    <p:sldId id="260" r:id="rId11"/>
    <p:sldId id="282" r:id="rId33"/>
    <p:sldId id="262" r:id="rId13"/>
    <p:sldId id="263" r:id="rId14"/>
    <p:sldId id="264" r:id="rId15"/>
    <p:sldId id="271" r:id="rId22"/>
    <p:sldId id="265" r:id="rId16"/>
    <p:sldId id="266" r:id="rId17"/>
    <p:sldId id="267" r:id="rId18"/>
    <p:sldId id="268" r:id="rId19"/>
    <p:sldId id="269" r:id="rId20"/>
    <p:sldId id="270" r:id="rId21"/>
    <p:sldId id="283" r:id="rId34"/>
    <p:sldId id="261" r:id="rId12"/>
    <p:sldId id="272" r:id="rId23"/>
    <p:sldId id="273" r:id="rId24"/>
    <p:sldId id="284" r:id="rId35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143000"/>
            <a:ext cx="9144000" cy="9144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0"/>
            <a:ext cx="6858000" cy="68580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143000"/>
            <a:ext cx="4572000" cy="4572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57400"/>
            <a:ext cx="2743200" cy="27432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4A2F"/>
                </a:solidFill>
                <a:latin typeface="Helvetica Neue"/>
              </a:rPr>
              <a:t>GRABHACK 2.0  · 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004A2F"/>
                </a:solidFill>
                <a:latin typeface="Helvetica Neue"/>
              </a:rPr>
              <a:t>grabwise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A2F"/>
                </a:solidFill>
                <a:latin typeface="Helvetica Neue"/>
              </a:rPr>
              <a:t>Financial wellness AI for Southeast Asia's gig workforce.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04A2F"/>
                </a:solidFill>
                <a:latin typeface="Helvetica Neue"/>
              </a:rPr>
              <a:t>A multi-agent AI system that helps Grab partners earn smarter,</a:t>
            </a:r>
          </a:p>
          <a:p>
            <a:pPr algn="l"/>
            <a:r>
              <a:rPr sz="1300" b="0" i="0">
                <a:solidFill>
                  <a:srgbClr val="004A2F"/>
                </a:solidFill>
                <a:latin typeface="Helvetica Neue"/>
              </a:rPr>
              <a:t>save with intent, and stay protected — built for the unbanked, the underserved,</a:t>
            </a:r>
          </a:p>
          <a:p>
            <a:pPr algn="l"/>
            <a:r>
              <a:rPr sz="1300" b="0" i="0">
                <a:solidFill>
                  <a:srgbClr val="004A2F"/>
                </a:solidFill>
                <a:latin typeface="Helvetica Neue"/>
              </a:rPr>
              <a:t>and the 5 million partners powering Grab's everyday economy.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852160"/>
            <a:ext cx="457200" cy="45720"/>
          </a:xfrm>
          <a:prstGeom prst="rect">
            <a:avLst/>
          </a:prstGeom>
          <a:solidFill>
            <a:srgbClr val="00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A2F"/>
                </a:solidFill>
                <a:latin typeface="Helvetica Neue"/>
              </a:rPr>
              <a:t>Pranathi Prabhala  ·  Palash Tamrakar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4A2F"/>
                </a:solidFill>
                <a:latin typeface="Helvetica Neue"/>
              </a:rPr>
              <a:t>Team prabhalapranathi  ·  Built on Grab open ecosystem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1430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Helvetica Neue"/>
              </a:rPr>
              <a:t>Traditional banking wasn't built
for the </a:t>
            </a:r>
            <a:r>
              <a:rPr sz="3600" b="1">
                <a:solidFill>
                  <a:srgbClr val="00B14F"/>
                </a:solidFill>
                <a:latin typeface="Helvetica Neue"/>
              </a:rPr>
              <a:t>gig economy.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Helvetica Neue"/>
              </a:rPr>
              <a:t>Grab already has the trust, the data, and the daily relationship with 5M+ partners.</a:t>
            </a:r>
          </a:p>
          <a:p>
            <a:pPr algn="l"/>
            <a:r>
              <a:rPr sz="1300" b="0" i="1">
                <a:solidFill>
                  <a:srgbClr val="64748B"/>
                </a:solidFill>
                <a:latin typeface="Helvetica Neue"/>
              </a:rPr>
              <a:t>GrabWise turns that into the financial wellness layer the banking system never delivered.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007A37"/>
                </a:solidFill>
                <a:latin typeface="Helvetica Neue"/>
              </a:rP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4155"/>
                </a:solidFill>
                <a:latin typeface="Helvetica Neue"/>
              </a:rPr>
              <a:t>of SEA gig workers earn outside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Helvetica Neue"/>
              </a:rPr>
              <a:t>the W2 model that modern consumer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Helvetica Neue"/>
              </a:rPr>
              <a:t>banking still assumes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Source: World Bank — SEA Informal Economy Brief,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017520"/>
            <a:ext cx="54864" cy="914400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B14F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7355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Credit models miss the 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65760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Banks score creditworthiness from W2 paychecks. Variable gig earnings rate lower than they should — even when total income is higher.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023360"/>
            <a:ext cx="54864" cy="914400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4023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B14F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7939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Tax frameworks lag the gig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66344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Self-employment regimes in SG, MY, ID, PH, TH assume year-round payroll. No mainstream tool auto-buffers tax for high-frequency earners.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029200"/>
            <a:ext cx="54864" cy="914400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50292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B14F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528523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Fraud playbooks weren't written for 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669280"/>
            <a:ext cx="7040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Legacy fraud detection assumes 30-day spend rhythms. High-frequency earner behavior reads as anomalous to systems built for desk-job customers.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04  / 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THE BRIEF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430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 Neue"/>
              </a:rPr>
              <a:t>One agentic platform. Three audiences.
</a:t>
            </a:r>
            <a:r>
              <a:rPr sz="3200" b="1">
                <a:solidFill>
                  <a:srgbClr val="00B14F"/>
                </a:solidFill>
                <a:latin typeface="Helvetica Neue"/>
              </a:rPr>
              <a:t>B- and P-level impact,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Most fintech products optimize for one stakeholder and trade off the others. GrabWise was scoped from day one to deliver measurable lift for partners, the Grab business, and GXS — at the same time, from the same agent graph, with no compromise.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1280160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72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Gig workers, drivers, merchants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7647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5M+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Tools tailored to variable income, missing tax foresight, fraud blind spots — personalized at the level of the individual partner, not the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P-level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+24% earnings · 3-5× faster savings · &lt;2h fraud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01752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154680"/>
            <a:ext cx="1280160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72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Grab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7647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Sticky GenAI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434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Captures the underserved segments other fintechs ignore. Drives partner NPS, retention, and a financial flywheel that compounds with every transaction.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349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B-level lift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Novel offering · partner loyalty · regulatory goodwill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01752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0" y="3154680"/>
            <a:ext cx="1280160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172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204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GXS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776472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Helvetica Neue"/>
              </a:rPr>
              <a:t>Banking that thinks for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3434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Moves beyond transactional fintech to intelligent, proactive, personalized money management — the GenAI-native product banking incumbents can't 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34924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Differentiation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577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Product-led moat · new segments captured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608076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144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OBJECTIVES MAPPED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6144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6144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GenAI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63733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Bedrock + Anthropic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6144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6144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Predictive modeling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3733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DP route 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6144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144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Personalized 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3733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Weekly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6144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6144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Proactive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63733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Planner + spawn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6144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1447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Wellness focus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63733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Underserved-first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05  / 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Helvetica Neue"/>
              </a:rPr>
              <a:t>Not a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Helvetica Neue"/>
              </a:rPr>
              <a:t>An agentic AI system that </a:t>
            </a:r>
            <a:r>
              <a:rPr sz="2800" b="1">
                <a:solidFill>
                  <a:srgbClr val="00B14F"/>
                </a:solidFill>
                <a:latin typeface="Helvetica Neue"/>
              </a:rPr>
              <a:t>earns, saves, and protects.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Helvetica Neue"/>
              </a:rPr>
              <a:t>Three specialists work in concert: an EARN agent that lifts daily route economics, a SAVE agent that turns variable income into a predictable plan, and a PROTECT agent that intervenes when fraud hits — orchestrated by a planner that adapts to whatever the partner 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72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Helvetica Neue"/>
              </a:rPr>
              <a:t>Daily Plan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Dynamic-programming-optimized route plans that lift driver earnings vs. the naive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7A37"/>
                </a:solidFill>
                <a:latin typeface="Helvetica Neue"/>
              </a:rPr>
              <a:t>+24%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Helvetica Neue"/>
              </a:rPr>
              <a:t>vs naive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92608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3154680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72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SAVE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Helvetica Neue"/>
              </a:rPr>
              <a:t>Wellness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605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Income + expenditure analysis, personalized cash-flow forecasts, auto tax set-aside, weekly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48640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7A37"/>
                </a:solidFill>
                <a:latin typeface="Helvetica Neue"/>
              </a:rPr>
              <a:t>+$42/wk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Helvetica Neue"/>
              </a:rPr>
              <a:t>buffered for tax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92608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3154680"/>
            <a:ext cx="1005840" cy="32004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172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11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Helvetica Neue"/>
              </a:rPr>
              <a:t>Fraud 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16052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Detect → intervene → recover. Tailored recovery playbook generated for each flagged account.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48640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07A37"/>
                </a:solidFill>
                <a:latin typeface="Helvetica Neue"/>
              </a:rPr>
              <a:t>&lt;2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Helvetica Neue"/>
              </a:rPr>
              <a:t>to recovery start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06  / 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BUILD LOG  ·  21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Helvetica Neue"/>
              </a:rPr>
              <a:t>11:00 AM Sat  →  08:30 AM Sun.
</a:t>
            </a:r>
            <a:r>
              <a:rPr sz="2200" b="1">
                <a:solidFill>
                  <a:srgbClr val="00B14F"/>
                </a:solidFill>
                <a:latin typeface="Helvetica Neue"/>
              </a:rPr>
              <a:t>Round the clock. Three mentor check-ins.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Twenty-one hours from brief to demo. Synthetic data, multi-agent orchestration, AWS Bedrock benchmarked across 18 LLMs, CloudWatch observability, 38 typed tools, frontend, and pitch — built between sunrise and sunrise.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PLANNING &amp;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3438144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387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DATA &amp;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3822192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22776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AGENT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4206240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0682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LLM &amp; OBSERVABILITY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4590288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9087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FRONTEND &amp;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974336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  <a:latin typeface="Helvetica Neue"/>
              </a:rPr>
              <a:t>PITCH &amp; POLISH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5358384"/>
            <a:ext cx="9509760" cy="45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8216" y="3154680"/>
            <a:ext cx="21945" cy="2212848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74002" y="3154680"/>
            <a:ext cx="21945" cy="2212848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416" y="3154680"/>
            <a:ext cx="21945" cy="2212848"/>
          </a:xfrm>
          <a:prstGeom prst="rect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3154680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0279" y="3154680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Brief + arch sketch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7376" y="3154680"/>
            <a:ext cx="663471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3096" y="3154680"/>
            <a:ext cx="57203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Final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36874" y="3538728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2594" y="3538728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DB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1503" y="3538728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7223" y="3538728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Synthetic data · 60K 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6961" y="3538728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681" y="3538728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DP optimizer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9188" y="3922776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24908" y="3922776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Supervisor +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6132" y="3922776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1852" y="3922776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Specialist tools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5389" y="3922776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1109" y="3922776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Planner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2333" y="3922776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8053" y="3922776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spawn_specialist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1590" y="3922776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7310" y="3922776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Tool registry · 38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8446" y="4306824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4166" y="4306824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AWS Bedrock · 18 LLMs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33075" y="4306824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8795" y="4306824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Hallucination tracking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17704" y="4306824"/>
            <a:ext cx="884628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3424" y="4306824"/>
            <a:ext cx="7931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CloudWatch dashboards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90760" y="4690872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6480" y="4690872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Dashboard + chat UI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71590" y="4690872"/>
            <a:ext cx="1105786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17310" y="4690872"/>
            <a:ext cx="101434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Branding · Grab polish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9276" y="5074920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4996" y="5074920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Reasoning logs + traces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56219" y="5074920"/>
            <a:ext cx="1326943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01939" y="5074920"/>
            <a:ext cx="12355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Helvetica Neue"/>
              </a:rPr>
              <a:t>Pitch deck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83162" y="5074920"/>
            <a:ext cx="221157" cy="292608"/>
          </a:xfrm>
          <a:prstGeom prst="roundRect">
            <a:avLst>
              <a:gd name="adj" fmla="val 8000"/>
            </a:avLst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96308" y="2697480"/>
            <a:ext cx="365760" cy="365760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96308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7A37"/>
                </a:solidFill>
                <a:latin typeface="Helvetica Neue"/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6268" y="25146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07A37"/>
                </a:solidFill>
                <a:latin typeface="Consolas"/>
              </a:rPr>
              <a:t>1:00 PM</a:t>
            </a:r>
          </a:p>
        </p:txBody>
      </p:sp>
      <p:sp>
        <p:nvSpPr>
          <p:cNvPr id="58" name="Oval 57"/>
          <p:cNvSpPr/>
          <p:nvPr/>
        </p:nvSpPr>
        <p:spPr>
          <a:xfrm>
            <a:off x="4002094" y="2697480"/>
            <a:ext cx="365760" cy="365760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2094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7A37"/>
                </a:solidFill>
                <a:latin typeface="Helvetica Neue"/>
              </a:rP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82054" y="25146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07A37"/>
                </a:solidFill>
                <a:latin typeface="Consolas"/>
              </a:rPr>
              <a:t>3:30 PM</a:t>
            </a:r>
          </a:p>
        </p:txBody>
      </p:sp>
      <p:sp>
        <p:nvSpPr>
          <p:cNvPr id="61" name="Oval 60"/>
          <p:cNvSpPr/>
          <p:nvPr/>
        </p:nvSpPr>
        <p:spPr>
          <a:xfrm>
            <a:off x="5992509" y="2697480"/>
            <a:ext cx="365760" cy="365760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2509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7A37"/>
                </a:solidFill>
                <a:latin typeface="Helvetica Neue"/>
              </a:rPr>
              <a:t>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72469" y="25146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07A37"/>
                </a:solidFill>
                <a:latin typeface="Consolas"/>
              </a:rPr>
              <a:t>8:00 PM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94560" y="5504688"/>
            <a:ext cx="950976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89988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83080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11 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74616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67708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1 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9245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52337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3 PM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3874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36966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5 PM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28503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21595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7 PM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13132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06224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9 PM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7761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90853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11 PM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82389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75481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1 AM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67018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60110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3 AM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51647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44739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5 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36276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29368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7 AM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699748" y="5504688"/>
            <a:ext cx="9144" cy="914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92840" y="56144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334155"/>
                </a:solidFill>
                <a:latin typeface="Consolas"/>
              </a:rPr>
              <a:t>8:30 AM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6263640"/>
            <a:ext cx="11430000" cy="36576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7240" y="63276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★ = MENTOR CHECK-IN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46120" y="632764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334155"/>
                </a:solidFill>
                <a:latin typeface="Helvetica Neue"/>
              </a:rPr>
              <a:t>18 features shipped · 0 hours of sleep · 3 mentor reviews · 21 hours of straight building.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07  / 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HERO FEATURE · DAILY PLAN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Helvetica Neue"/>
              </a:rPr>
              <a:t>Dynamic programming over</a:t>
            </a:r>
          </a:p>
          <a:p>
            <a:pPr algn="l"/>
            <a:r>
              <a:rPr sz="3000" b="1" i="0">
                <a:solidFill>
                  <a:srgbClr val="0F172A"/>
                </a:solidFill>
                <a:latin typeface="Helvetica Neue"/>
              </a:rPr>
              <a:t>500 spatial cells × 24 hours × 7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Helvetica Neue"/>
              </a:rPr>
              <a:t>NAIVE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Helvetica Neue"/>
              </a:rPr>
              <a:t>Stay in home zone.</a:t>
            </a:r>
          </a:p>
          <a:p>
            <a:pPr algn="l"/>
            <a:r>
              <a:rPr sz="1500" b="0" i="0">
                <a:solidFill>
                  <a:srgbClr val="334155"/>
                </a:solidFill>
                <a:latin typeface="Helvetica Neue"/>
              </a:rPr>
              <a:t>Wait for orders.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64748B"/>
                </a:solidFill>
                <a:latin typeface="Helvetica Neue"/>
              </a:rPr>
              <a:t>$108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Helvetica Neue"/>
              </a:rPr>
              <a:t>expected per 8-hr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Helvetica Neue"/>
              </a:rPr>
              <a:t>Idle time: ~91 min/shift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Helvetica Neue"/>
              </a:rPr>
              <a:t>(19% of shift · Wang et al., ACM 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4023360"/>
            <a:ext cx="502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0B14F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4231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37"/>
                </a:solidFill>
                <a:latin typeface="Helvetica Neue"/>
              </a:rPr>
              <a:t>GRABWISE-OPTIMIZED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Helvetica Neue"/>
              </a:rPr>
              <a:t>Multi-zone route based</a:t>
            </a:r>
          </a:p>
          <a:p>
            <a:pPr algn="l"/>
            <a:r>
              <a:rPr sz="1500" b="0" i="0">
                <a:solidFill>
                  <a:srgbClr val="0F172A"/>
                </a:solidFill>
                <a:latin typeface="Helvetica Neue"/>
              </a:rPr>
              <a:t>on demand-pressure DP.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007A37"/>
                </a:solidFill>
                <a:latin typeface="Helvetica Neue"/>
              </a:rPr>
              <a:t>$134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007A37"/>
                </a:solidFill>
                <a:latin typeface="Helvetica Neue"/>
              </a:rPr>
              <a:t>expected per 8-hr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8978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A37"/>
                </a:solidFill>
                <a:latin typeface="Helvetica Neue"/>
              </a:rPr>
              <a:t>Idle time: ~24 min/shift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126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007A37"/>
                </a:solidFill>
                <a:latin typeface="Helvetica Neue"/>
              </a:rPr>
              <a:t>(5% post-DP · 60K-order backtest)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Helvetica Neue"/>
              </a:rPr>
              <a:t>UNDER THE 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71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Backward DP</a:t>
            </a:r>
          </a:p>
        </p:txBody>
      </p:sp>
      <p:sp>
        <p:nvSpPr>
          <p:cNvPr id="21" name="Oval 20"/>
          <p:cNvSpPr/>
          <p:nvPr/>
        </p:nvSpPr>
        <p:spPr>
          <a:xfrm>
            <a:off x="7909560" y="356616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4747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500 grid cells (100 per city × 5 cities)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393192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840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Real lat/lon centers from city bounding boxes</a:t>
            </a:r>
          </a:p>
        </p:txBody>
      </p:sp>
      <p:sp>
        <p:nvSpPr>
          <p:cNvPr id="25" name="Oval 24"/>
          <p:cNvSpPr/>
          <p:nvPr/>
        </p:nvSpPr>
        <p:spPr>
          <a:xfrm>
            <a:off x="7909560" y="429768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206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Haversine travel-time matrix, city-specific avg speeds</a:t>
            </a:r>
          </a:p>
        </p:txBody>
      </p:sp>
      <p:sp>
        <p:nvSpPr>
          <p:cNvPr id="27" name="Oval 26"/>
          <p:cNvSpPr/>
          <p:nvPr/>
        </p:nvSpPr>
        <p:spPr>
          <a:xfrm>
            <a:off x="7909560" y="466344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Demand smoothed over 3-hour rolling window</a:t>
            </a:r>
          </a:p>
        </p:txBody>
      </p:sp>
      <p:sp>
        <p:nvSpPr>
          <p:cNvPr id="29" name="Oval 28"/>
          <p:cNvSpPr/>
          <p:nvPr/>
        </p:nvSpPr>
        <p:spPr>
          <a:xfrm>
            <a:off x="7909560" y="502920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Preferred-zone soft bonus + blackout-hour hard cuts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5394960"/>
            <a:ext cx="91440" cy="9144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Helvetica Neue"/>
              </a:rPr>
              <a:t>Solves in &lt;150 ms per driver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72800" cy="45720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20  / 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1430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Five specialists. One supervisor.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1430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A planner that </a:t>
            </a:r>
            <a:r>
              <a:rPr sz="3000" b="1">
                <a:solidFill>
                  <a:srgbClr val="00B14F"/>
                </a:solidFill>
                <a:latin typeface="Helvetica Neue"/>
              </a:rPr>
              <a:t>spawns ephemeral agents at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4680"/>
            <a:ext cx="164592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B14F"/>
                </a:solidFill>
                <a:latin typeface="Helvetica Neue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0215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Helvetica Neue"/>
              </a:rPr>
              <a:t>driver · customer</a:t>
            </a:r>
          </a:p>
          <a:p>
            <a:pPr algn="ctr"/>
            <a:r>
              <a:rPr sz="900" b="0" i="0">
                <a:solidFill>
                  <a:srgbClr val="E2E8F0"/>
                </a:solidFill>
                <a:latin typeface="Helvetica Neue"/>
              </a:rPr>
              <a:t>merchant ·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33756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15468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3246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5021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E6F7EE"/>
                </a:solidFill>
                <a:latin typeface="Helvetica Neue"/>
              </a:rPr>
              <a:t>LangGraph · Haiku 4.5</a:t>
            </a:r>
          </a:p>
          <a:p>
            <a:pPr algn="ctr"/>
            <a:r>
              <a:rPr sz="900" b="0" i="0">
                <a:solidFill>
                  <a:srgbClr val="E6F7EE"/>
                </a:solidFill>
                <a:latin typeface="Helvetica Neue"/>
              </a:rPr>
              <a:t>structured routing · role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33756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78892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2862072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Driver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3154679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Helvetica Neue"/>
              </a:rPr>
              <a:t>10 tools · DP optimizer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78892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2862072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Customer Convenience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3154679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Helvetica Neue"/>
              </a:rPr>
              <a:t>6 tools · Smart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352044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3593592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Merchant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3886200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Helvetica Neue"/>
              </a:rPr>
              <a:t>6 tools · Pricing + Forecast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352044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3593592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Fraud &amp;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3886200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Helvetica Neue"/>
              </a:rPr>
              <a:t>4 tools · scoring + intervention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11480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B14F"/>
                </a:solidFill>
                <a:latin typeface="Helvetica Neue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663440"/>
            <a:ext cx="1188720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817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PLANNER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663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onsolas"/>
              </a:rPr>
              <a:t>spawn_specialist(...)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4748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For novel multi-dimensional queries, the planner decomposes the task and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instantiates ephemeral agents with custom prompts + tool subsets — no code change.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7607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8155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37"/>
                </a:solidFill>
                <a:latin typeface="Helvetica Neue"/>
              </a:rPr>
              <a:t>BRAIN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6053328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LLM + reasoning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6272784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Haiku 4.5 supervisor  ·  Qwen3 / DeepSeek / GLM via Bedrock  ·  Anthropic fallback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59" y="57607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58155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37"/>
                </a:solidFill>
                <a:latin typeface="Helvetica Neue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053328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APIs + databases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272784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38 typed tools  ·  Pydantic-validated  ·  SQLAlchemy + SQLite  ·  FastAPI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39" y="57607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9" y="58155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37"/>
                </a:solidFill>
                <a:latin typeface="Helvetica Neue"/>
              </a:rPr>
              <a:t>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6053328"/>
            <a:ext cx="3383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Helvetica Neue"/>
              </a:rPr>
              <a:t>State + traces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19" y="6272784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AgentState (per-run)  ·  llm_call_logs  ·  agent_trace[]  ·  CloudWatch (long-term)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09  / 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AGENT TOPOLOGY ·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Six stateful nodes. Conditional edges. The planner can mint new ones.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52059" y="2011680"/>
            <a:ext cx="0" cy="4572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52059" y="3154680"/>
            <a:ext cx="0" cy="6858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1619" y="3840480"/>
            <a:ext cx="7498081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1619" y="3840480"/>
            <a:ext cx="0" cy="22860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6140" y="3840480"/>
            <a:ext cx="0" cy="22860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80659" y="3840480"/>
            <a:ext cx="0" cy="22860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55179" y="3840480"/>
            <a:ext cx="0" cy="22860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29700" y="3840480"/>
            <a:ext cx="0" cy="228600"/>
          </a:xfrm>
          <a:prstGeom prst="line">
            <a:avLst/>
          </a:prstGeom>
          <a:ln w="25400">
            <a:solidFill>
              <a:srgbClr val="00B1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29700" y="4754880"/>
            <a:ext cx="0" cy="457200"/>
          </a:xfrm>
          <a:prstGeom prst="line">
            <a:avLst/>
          </a:prstGeom>
          <a:ln w="25400">
            <a:solidFill>
              <a:srgbClr val="00B1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26280" y="155448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54480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B14F"/>
                </a:solidFill>
                <a:latin typeface="Helvetica Neue"/>
              </a:rPr>
              <a:t>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46888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9525">
            <a:solidFill>
              <a:srgbClr val="007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560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8529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E6F7EE"/>
                </a:solidFill>
                <a:latin typeface="Consolas"/>
              </a:rPr>
              <a:t>LangGraph + Haiku 4.5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Helvetica Neue"/>
              </a:rPr>
              <a:t>driver_success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5312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onsolas"/>
              </a:rPr>
              <a:t>10 tools · DP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4069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Helvetica Neue"/>
              </a:rPr>
              <a:t>customer_convenience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45312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onsolas"/>
              </a:rPr>
              <a:t>6 tools ·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69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Helvetica Neue"/>
              </a:rPr>
              <a:t>merchant_growth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5312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onsolas"/>
              </a:rPr>
              <a:t>6 tools · pricing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69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Helvetica Neue"/>
              </a:rPr>
              <a:t>fraud_risk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45312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onsolas"/>
              </a:rPr>
              <a:t>4 tools · scoring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0690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1605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Helvetica Neue"/>
              </a:rPr>
              <a:t>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45312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onsolas"/>
              </a:rPr>
              <a:t>2 meta-tools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5138928"/>
            <a:ext cx="333756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5193792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7A37"/>
                </a:solidFill>
                <a:latin typeface="Consolas"/>
              </a:rPr>
              <a:t>spawn_specialist(...)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0" y="5504688"/>
            <a:ext cx="1417319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550468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334155"/>
                </a:solidFill>
                <a:latin typeface="Consolas"/>
              </a:rPr>
              <a:t>spawn_1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5504688"/>
            <a:ext cx="1417319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550468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334155"/>
                </a:solidFill>
                <a:latin typeface="Consolas"/>
              </a:rPr>
              <a:t>spawn_2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0" y="5815583"/>
            <a:ext cx="1417319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5815583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334155"/>
                </a:solidFill>
                <a:latin typeface="Consolas"/>
              </a:rPr>
              <a:t>spawn_3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40" y="5815583"/>
            <a:ext cx="1417319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5815583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334155"/>
                </a:solidFill>
                <a:latin typeface="Consolas"/>
              </a:rPr>
              <a:t>spawn_4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32720" y="1554480"/>
            <a:ext cx="1645920" cy="4572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9880" y="1691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GRAPH PROPS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205740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Stateful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2313432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AgentState carries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messages, traces,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role, model_override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30815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Conditional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333756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supervisor uses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with_structured_output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to pick next_agent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410565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Recursive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4361688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specialists loop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back to supervisor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(multi-turn ReAct)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512978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Self-modifying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385816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planner spawns new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ephemeral nodes —</a:t>
            </a:r>
          </a:p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no code change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093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LangGraph StateGraph · recursion_limit=25 · per-spawn step budget=6 · per-run spawn cap=4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10  / 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WORKFLOW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One question. Eight LLM calls. 5.3s end-to-end.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 Neue"/>
              </a:rPr>
              <a:t>"Compare driver earnings in Singapore vs Jakarta for late-night vegetarian orders — give me a strategy memo."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1892" y="2459736"/>
            <a:ext cx="27432" cy="3346704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2386584"/>
            <a:ext cx="274320" cy="274320"/>
          </a:xfrm>
          <a:prstGeom prst="ellipse">
            <a:avLst/>
          </a:prstGeom>
          <a:solidFill>
            <a:srgbClr val="007A37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95727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00.0s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331720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36829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77439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Helvetica Neue"/>
              </a:rPr>
              <a:t>Haiku 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8775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classify(query) → next_agent="planner"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52344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structured_output · 0.4s · 312 tok</a:t>
            </a:r>
          </a:p>
        </p:txBody>
      </p:sp>
      <p:sp>
        <p:nvSpPr>
          <p:cNvPr id="15" name="Oval 14"/>
          <p:cNvSpPr/>
          <p:nvPr/>
        </p:nvSpPr>
        <p:spPr>
          <a:xfrm>
            <a:off x="1307592" y="3044951"/>
            <a:ext cx="274320" cy="274320"/>
          </a:xfrm>
          <a:prstGeom prst="ellipse">
            <a:avLst/>
          </a:prstGeom>
          <a:solidFill>
            <a:srgbClr val="00B14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5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00.4s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2990087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026663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03580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B14F"/>
                </a:solidFill>
                <a:latin typeface="Helvetica Neue"/>
              </a:rPr>
              <a:t>Qwen3 235B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4612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decompose() → 3 sub-tasks + tool allowlists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10711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react step 1 · 1.1s · 1,840 tok</a:t>
            </a:r>
          </a:p>
        </p:txBody>
      </p:sp>
      <p:sp>
        <p:nvSpPr>
          <p:cNvPr id="22" name="Oval 21"/>
          <p:cNvSpPr/>
          <p:nvPr/>
        </p:nvSpPr>
        <p:spPr>
          <a:xfrm>
            <a:off x="1307592" y="3703319"/>
            <a:ext cx="274320" cy="274320"/>
          </a:xfrm>
          <a:prstGeom prst="ellipse">
            <a:avLst/>
          </a:prstGeom>
          <a:solidFill>
            <a:srgbClr val="33415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12463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01.5s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648455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3685031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spawn:sg_veg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694175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334155"/>
                </a:solidFill>
                <a:latin typeface="Helvetica Neue"/>
              </a:rPr>
              <a:t>Qwen3 235B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04487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search_merchants + get_busy_zones + find_safe_late_night_drivers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069079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3 tools · 4 steps · 1.4s · 2,210 tok</a:t>
            </a:r>
          </a:p>
        </p:txBody>
      </p:sp>
      <p:sp>
        <p:nvSpPr>
          <p:cNvPr id="29" name="Oval 28"/>
          <p:cNvSpPr/>
          <p:nvPr/>
        </p:nvSpPr>
        <p:spPr>
          <a:xfrm>
            <a:off x="1307592" y="4361687"/>
            <a:ext cx="274320" cy="274320"/>
          </a:xfrm>
          <a:prstGeom prst="ellipse">
            <a:avLst/>
          </a:prstGeom>
          <a:solidFill>
            <a:srgbClr val="33415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70831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02.9s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4306823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343399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spawn:jakarta_veg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35254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334155"/>
                </a:solidFill>
                <a:latin typeface="Helvetica Neue"/>
              </a:rPr>
              <a:t>Qwen3 235B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562855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search_merchants + get_busy_zones + find_safe_late_night_drivers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727447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3 tools · 4 steps · 1.3s · 2,180 tok</a:t>
            </a:r>
          </a:p>
        </p:txBody>
      </p:sp>
      <p:sp>
        <p:nvSpPr>
          <p:cNvPr id="36" name="Oval 35"/>
          <p:cNvSpPr/>
          <p:nvPr/>
        </p:nvSpPr>
        <p:spPr>
          <a:xfrm>
            <a:off x="1307592" y="5020055"/>
            <a:ext cx="274320" cy="274320"/>
          </a:xfrm>
          <a:prstGeom prst="ellipse">
            <a:avLst/>
          </a:prstGeom>
          <a:solidFill>
            <a:srgbClr val="33415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29199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04.2s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3080" y="4965191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00176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spawn:cross_city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010911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334155"/>
                </a:solidFill>
                <a:latin typeface="Helvetica Neue"/>
              </a:rPr>
              <a:t>Qwen3 235B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5221223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no tools — pure reasoning over prior spawn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385815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0 tools · 1 step · 0.6s · 980 tok</a:t>
            </a:r>
          </a:p>
        </p:txBody>
      </p:sp>
      <p:sp>
        <p:nvSpPr>
          <p:cNvPr id="43" name="Oval 42"/>
          <p:cNvSpPr/>
          <p:nvPr/>
        </p:nvSpPr>
        <p:spPr>
          <a:xfrm>
            <a:off x="1307592" y="5678423"/>
            <a:ext cx="274320" cy="274320"/>
          </a:xfrm>
          <a:prstGeom prst="ellipse">
            <a:avLst/>
          </a:prstGeom>
          <a:solidFill>
            <a:srgbClr val="00B14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87567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172A"/>
                </a:solidFill>
                <a:latin typeface="Consolas"/>
              </a:rPr>
              <a:t>04.8s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83080" y="5623559"/>
            <a:ext cx="6035040" cy="594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660135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</a:rPr>
              <a:t>planner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669279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B14F"/>
                </a:solidFill>
                <a:latin typeface="Helvetica Neue"/>
              </a:rPr>
              <a:t>Qwen3 235B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5879591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synthesize(headline + findings + bottom-line)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6044183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react step 2 · 0.5s · 1,420 tok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ROLLUP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2788920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2880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37"/>
                </a:solidFill>
                <a:latin typeface="Consolas"/>
              </a:rPr>
              <a:t>5.3s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2953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Helvetica Neue"/>
              </a:rPr>
              <a:t>wall time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3447287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3538727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onsolas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3611879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Helvetica Neue"/>
              </a:rPr>
              <a:t>LLM calls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4105655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4197095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onsolas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270247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Helvetica Neue"/>
              </a:rPr>
              <a:t>tools invoked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4764023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4855463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37"/>
                </a:solidFill>
                <a:latin typeface="Consolas"/>
              </a:rPr>
              <a:t>$0.04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4928615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Helvetica Neue"/>
              </a:rPr>
              <a:t>Bedrock cost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5422391"/>
            <a:ext cx="3611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21040" y="5513831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37"/>
                </a:solidFill>
                <a:latin typeface="Consolas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586983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Helvetica Neue"/>
              </a:rPr>
              <a:t>hallucinations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6199632"/>
            <a:ext cx="11338560" cy="36576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23620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Every step traced, costed, and replayable from CloudWatch — even ephemeral spawns leave audit trails.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11  / 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TOOL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38 typed tools. One registry. Strict per-spawn allowlists.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10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get_driver_profile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60903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7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get_driver_today_plan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0087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get_driver_earnings_summary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19271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7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generate_daily_plan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5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85031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find_safe_late_night_drivers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14215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get_driver_trust_score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06824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get_busy_zones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36008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725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predict_demand_hotspots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65192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0176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get_traffic_advisory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94376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30952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get_weather_for_zone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16002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1627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0574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6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2331720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get_customer_profile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2660903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69747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get_customer_recent_orders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2990087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302666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get_typical_pattern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3319271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355847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search_merchants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3648455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3685031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get_merchant_menu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0360" y="3977639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4014215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estimate_delivery_eta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16002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1627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MERCHANT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20574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6 tools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2331720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get_merchant_profile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12080" y="2660903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269747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get_merchant_sales_summary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12080" y="2990087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302666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forecast_merchant_demand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2080" y="3319271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3355847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suggest_dynamic_pricing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12080" y="3648455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3685031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recommend_inventory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3977639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0" y="4014215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get_competitor_density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43800" y="16002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1627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FRAUD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20574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4 tools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43800" y="2331720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524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score_order_risk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43800" y="2660903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35240" y="269747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freeze_account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43800" y="2990087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35240" y="302666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add_to_watchlist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43800" y="3319271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3355847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generate_recovery_steps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875520" y="1600200"/>
            <a:ext cx="2240280" cy="365760"/>
          </a:xfrm>
          <a:prstGeom prst="roundRect">
            <a:avLst>
              <a:gd name="adj" fmla="val 8000"/>
            </a:avLst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5520" y="162763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PLANNER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20574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Helvetica Neue"/>
              </a:rPr>
              <a:t>2 tools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2331720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6696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list_available_tools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75520" y="2660903"/>
            <a:ext cx="2240280" cy="2926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66960" y="269747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onsolas"/>
              </a:rPr>
              <a:t>spawn_specialist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8978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9436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REGISTRY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5943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Type-safe schemas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03120" y="61447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Helvetica Neue"/>
              </a:rPr>
              <a:t>Pydantic input/output on every tool — bad JSON is rejected before reaching the agent.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6279" y="5943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Allowlist enforcement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61447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Helvetica Neue"/>
              </a:rPr>
              <a:t>Each spawn declares its tool subset; unknown tools fall through as hallucination signals.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943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Collision detection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61447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Helvetica Neue"/>
              </a:rPr>
              <a:t>Registry refuses to load two tools with the same name — surfaces drift at import time.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72600" y="59436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Side-effect tagging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72600" y="61447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Helvetica Neue"/>
              </a:rPr>
              <a:t>Write tools (freeze_account, generate_recovery_steps) carry an effect flag for audit.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13  / 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SPAWN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Ephemeral workers, hard budgets, observable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LIFECYCLE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Planner emits tool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spawn_specialist(name, system_prompt, tool_names, query) — one focused sub-question per spawn.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6352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Counter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906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ContextVar enforces MAX_SPAWNS_PER_RUN=4. Returns error if exceeded — no runaway recursion.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935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Tool subset 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4962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get_tools(tool_names) returns only allowlisted tools. Unknown names are silently dropped + logged.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5254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Bound LLM + ReAct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085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Fresh chat history: [SystemMessage(prompt), HumanMessage(query)]. Loop runs ≤ MAX_SPAWN_STEPS=6.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93208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932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1149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Per-step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6752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Each LLM call tagged agent="spawn:&lt;name&gt;" in llm_call_logs — latency, tokens, USD cost, hallucinations.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7044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Return structured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264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{answer, steps_used, tools_called, hallucinated, hallucination_reasons[]} — planner synthesizes over this.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691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HALLUCINATION SIGNALS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057400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1488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  <a:latin typeface="Consolas"/>
              </a:rPr>
              <a:t>unknown_tool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4414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Model invents a tool name not in the spawn's allowlist.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017520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3108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  <a:latin typeface="Consolas"/>
              </a:rPr>
              <a:t>invalid_agent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4015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Supervisor's structured_output returns an agent that doesn't exist.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977639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FFC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4069079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structured_output_null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3616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with_structured_output() returns None (common on non-Anthropic models).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937759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FFC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5029199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onsolas"/>
              </a:rPr>
              <a:t>invoke_exception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5321807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LLM call raises — provider 5xx, schema validation, rate limit.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589788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59436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GUARDRAILS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6144768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Every reason code emitted as a CloudWatch metric.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Per-model hallucination rate drives the verdict pills.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≥30% hallucinations → model auto-flagged as Unreliable.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14  / 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Helvetica Neue"/>
              </a:rPr>
              <a:t>Not a pipeline. </a:t>
            </a:r>
            <a:r>
              <a:rPr sz="2400" b="1">
                <a:solidFill>
                  <a:srgbClr val="00B14F"/>
                </a:solidFill>
                <a:latin typeface="Helvetica Neue"/>
              </a:rPr>
              <a:t>A reasoning loop that re-plans every turn.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Helvetica Neue"/>
              </a:rPr>
              <a:t>TRADITIONAL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669280" cy="1920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34155"/>
                </a:solidFill>
                <a:latin typeface="Helvetica Neue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517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60604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6060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34155"/>
                </a:solidFill>
                <a:latin typeface="Helvetica Neue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517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60604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6060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34155"/>
                </a:solidFill>
                <a:latin typeface="Helvetica Neue"/>
              </a:rPr>
              <a:t>Reply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E11D48"/>
                </a:solidFill>
                <a:latin typeface="Helvetica Neue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334155"/>
                </a:solidFill>
                <a:latin typeface="Helvetica Neue"/>
              </a:rPr>
              <a:t>Edge cases break the chain. New question shapes need new code.</a:t>
            </a:r>
          </a:p>
          <a:p>
            <a:pPr algn="l"/>
            <a:r>
              <a:rPr sz="1000" b="0" i="1">
                <a:solidFill>
                  <a:srgbClr val="334155"/>
                </a:solidFill>
                <a:latin typeface="Helvetica Neue"/>
              </a:rPr>
              <a:t>Each tool error cascades. No recovery.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GRABWISE REASONING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0312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228600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48272" y="2377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77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5915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READ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5176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messages · traces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28600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2912" y="2377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2377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35915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DECIDE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65176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with_structured_output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315468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2912" y="324612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2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22783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52044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agent · tool · spawn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15468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48272" y="324612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27832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UPDATE 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52044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append + persist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24231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7A37"/>
                </a:solidFill>
                <a:latin typeface="Helvetica Neue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29260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7A37"/>
                </a:solidFill>
                <a:latin typeface="Helvetica Neue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29184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7A37"/>
                </a:solidFill>
                <a:latin typeface="Helvetica Neue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9260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B14F"/>
                </a:solidFill>
                <a:latin typeface="Helvetica Neue"/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90779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A37"/>
                </a:solidFill>
                <a:latin typeface="Consolas"/>
              </a:rPr>
              <a:t>REPEAT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278892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B14F"/>
                </a:solidFill>
                <a:latin typeface="Helvetica Neue"/>
              </a:rPr>
              <a:t>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343400"/>
            <a:ext cx="3749039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2959" y="4526280"/>
            <a:ext cx="274320" cy="27432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8920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ADAPTIVE ROUTING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21208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Supervisor's structured_output picks the next node based on the latest state, not a fixed sequence.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19" y="4343400"/>
            <a:ext cx="3749039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63439" y="4526280"/>
            <a:ext cx="274320" cy="27432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39" y="48920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MULTI-TURN REFLECTION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39" y="521208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Specialists loop back to supervisor with intermediate results — multiple ReAct steps per query.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599" y="4343400"/>
            <a:ext cx="3749039" cy="1691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503919" y="4526280"/>
            <a:ext cx="274320" cy="27432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19" y="489204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DYNAMIC REPLANNING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19" y="521208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Planner can decompose, dispatch, and revise. If a spawn returns nothing, the planner re-plans.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6364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An autonomous system makes a different decision based on what just happened — every turn.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15  / 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DYNAMIC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Two questions. Same graph. Different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GrabWise doesn't run the same pipeline for every query. The graph decides how much machinery to engage based on the question — saving compute on simple asks and unleashing the planner on complex ones. Same code. Same models. Wildly different traversals.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92807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CASE A ·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0F172A"/>
                </a:solidFill>
                <a:latin typeface="Helvetica Neue"/>
              </a:rPr>
              <a:t>"What's my plan today?"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Consolas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classify → driver_success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007A37"/>
                </a:solidFill>
                <a:latin typeface="Consolas"/>
              </a:rPr>
              <a:t>0.4s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56432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021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driver_success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124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get_driver_today_plan()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9359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007A37"/>
                </a:solidFill>
                <a:latin typeface="Consolas"/>
              </a:rPr>
              <a:t>0.6s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2120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239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driver_success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3425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synthesize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1538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007A37"/>
                </a:solidFill>
                <a:latin typeface="Consolas"/>
              </a:rPr>
              <a:t>0.2s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5212080" cy="118872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7A37"/>
                </a:solidFill>
                <a:latin typeface="Consolas"/>
              </a:rPr>
              <a:t>1.2s  ·  3 LLM calls  ·  1 tool  ·  $0.003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334155"/>
                </a:solidFill>
                <a:latin typeface="Helvetica Neue"/>
              </a:rPr>
              <a:t>Direct route. No planner needed — supervisor handed it straight</a:t>
            </a:r>
          </a:p>
          <a:p>
            <a:pPr algn="ctr"/>
            <a:r>
              <a:rPr sz="900" b="0" i="1">
                <a:solidFill>
                  <a:srgbClr val="334155"/>
                </a:solidFill>
                <a:latin typeface="Helvetica Neue"/>
              </a:rPr>
              <a:t>to the persona specialist. Two ReAct steps to a final reply.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69164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1874519"/>
            <a:ext cx="1691640" cy="2926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892807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CASE B · COMPLEX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402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0F172A"/>
                </a:solidFill>
                <a:latin typeface="Helvetica Neue"/>
              </a:rPr>
              <a:t>"Compare SG vs Jakarta veg late-night."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834640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28803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Consolas"/>
              </a:rPr>
              <a:t>supervisor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8803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classify → planner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288036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0.4s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218688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32644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Consolas"/>
              </a:rPr>
              <a:t>planner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26440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decompose → 3 spawns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3264408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1.1s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602736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36484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onsolas"/>
              </a:rPr>
              <a:t>spawn:sg_veg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648456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search + zones + drivers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364845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1.4s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986784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40325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onsolas"/>
              </a:rPr>
              <a:t>spawn:jakarta_veg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032504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search + zones + drivers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03250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1.3s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4370832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93408" y="44165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onsolas"/>
              </a:rPr>
              <a:t>spawn:cross_city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416552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synthesize differences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4200" y="4416552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0.6s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4754880"/>
            <a:ext cx="52120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3408" y="48006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Consolas"/>
              </a:rPr>
              <a:t>planner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8006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compose strategy memo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4200" y="480060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1">
                <a:solidFill>
                  <a:srgbClr val="007A37"/>
                </a:solidFill>
                <a:latin typeface="Consolas"/>
              </a:rPr>
              <a:t>0.5s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16636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23036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7A37"/>
                </a:solidFill>
                <a:latin typeface="Consolas"/>
              </a:rPr>
              <a:t>5.3s  ·  8 LLM calls  ·  6 tools  ·  $0.011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577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334155"/>
                </a:solidFill>
                <a:latin typeface="Helvetica Neue"/>
              </a:rPr>
              <a:t>Planner spun up 3 ephemeral workers, then synthesized.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77900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1">
                <a:solidFill>
                  <a:srgbClr val="007A37"/>
                </a:solidFill>
                <a:latin typeface="Helvetica Neue"/>
              </a:rPr>
              <a:t>Same starting graph — zero code change between cases.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5508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007A37"/>
                </a:solidFill>
                <a:latin typeface="Helvetica Neue"/>
              </a:rPr>
              <a:t>The graph traverses itself differently every time. Complexity is detected, not declared.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16  / 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Helvetica Neue"/>
              </a:rPr>
              <a:t>From idea to deployable skill in 24 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858000" cy="47548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onsolas"/>
              </a:rPr>
              <a:t>backend/tools/driver_tools.py</a:t>
            </a:r>
          </a:p>
        </p:txBody>
      </p:sp>
      <p:sp>
        <p:nvSpPr>
          <p:cNvPr id="6" name="Oval 5"/>
          <p:cNvSpPr/>
          <p:nvPr/>
        </p:nvSpPr>
        <p:spPr>
          <a:xfrm>
            <a:off x="6675120" y="1920240"/>
            <a:ext cx="146304" cy="146304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920240"/>
            <a:ext cx="146304" cy="146304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0" y="1920240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B14F"/>
                </a:solidFill>
                <a:latin typeface="Consolas"/>
              </a:rPr>
              <a:t>from langchain_core.tools import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from backend.db import get_session,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9806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B14F"/>
                </a:solidFill>
                <a:latin typeface="Consolas"/>
              </a:rPr>
              <a:t>@tool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def find_safe_late_night_drivers(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C400"/>
                </a:solidFill>
                <a:latin typeface="Consolas"/>
              </a:rPr>
              <a:t>    city: str,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C400"/>
                </a:solidFill>
                <a:latin typeface="Consolas"/>
              </a:rPr>
              <a:t>    min_trust_score: float = 0.75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0273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) -&gt; dict: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0390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    """Return high-trust drivers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0507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nsolas"/>
              </a:rPr>
              <a:t>    between 22:00 and 02:00 in `city`."""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with get_session() as 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074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rows = (s.query(Driver)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08576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         .filter(Driver.city == city)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9744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         .filter(Driver.trust_score &gt;= min_trust_score)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1091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         .filter(Driver.late_night_active == True)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79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         .all())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13247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return {"drivers":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14415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>            [r.to_dict() for r in rows]}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15583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16751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B14F"/>
                </a:solidFill>
                <a:latin typeface="Consolas"/>
              </a:rPr>
              <a:t># That's it. Auto-registered, auto-typed,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17919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B14F"/>
                </a:solidFill>
                <a:latin typeface="Consolas"/>
              </a:rPr>
              <a:t># auto-traced, auto-billable.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WHAT YOU GET FOR FREE</a:t>
            </a:r>
          </a:p>
        </p:txBody>
      </p:sp>
      <p:sp>
        <p:nvSpPr>
          <p:cNvPr id="31" name="Oval 30"/>
          <p:cNvSpPr/>
          <p:nvPr/>
        </p:nvSpPr>
        <p:spPr>
          <a:xfrm>
            <a:off x="7589520" y="2240280"/>
            <a:ext cx="182880" cy="1828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21488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Pydantic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4231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Input schema inferred from type hints. Bad JSON rejected before the function runs.</a:t>
            </a:r>
          </a:p>
        </p:txBody>
      </p:sp>
      <p:sp>
        <p:nvSpPr>
          <p:cNvPr id="34" name="Oval 33"/>
          <p:cNvSpPr/>
          <p:nvPr/>
        </p:nvSpPr>
        <p:spPr>
          <a:xfrm>
            <a:off x="7589520" y="3017520"/>
            <a:ext cx="182880" cy="1828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926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Auto-registration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2004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Tool discovered at import time. Available immediately to every spawn that lists it.</a:t>
            </a:r>
          </a:p>
        </p:txBody>
      </p:sp>
      <p:sp>
        <p:nvSpPr>
          <p:cNvPr id="37" name="Oval 36"/>
          <p:cNvSpPr/>
          <p:nvPr/>
        </p:nvSpPr>
        <p:spPr>
          <a:xfrm>
            <a:off x="7589520" y="3794759"/>
            <a:ext cx="182880" cy="1828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37033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Side-effect tagging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97763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Marker decorators flag write tools — audit logs surface them automatically.</a:t>
            </a:r>
          </a:p>
        </p:txBody>
      </p:sp>
      <p:sp>
        <p:nvSpPr>
          <p:cNvPr id="40" name="Oval 39"/>
          <p:cNvSpPr/>
          <p:nvPr/>
        </p:nvSpPr>
        <p:spPr>
          <a:xfrm>
            <a:off x="7589520" y="4571999"/>
            <a:ext cx="182880" cy="1828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448055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Telemetry + cost capture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75487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Latency, tokens, USD cost recorded per invocation. CloudWatch metrics emitted.</a:t>
            </a:r>
          </a:p>
        </p:txBody>
      </p:sp>
      <p:sp>
        <p:nvSpPr>
          <p:cNvPr id="43" name="Oval 42"/>
          <p:cNvSpPr/>
          <p:nvPr/>
        </p:nvSpPr>
        <p:spPr>
          <a:xfrm>
            <a:off x="7589520" y="5349239"/>
            <a:ext cx="182880" cy="1828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525779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Hallucination protection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53211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If the model invents tool names, registry catches it as a hallucination signal.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6126480"/>
            <a:ext cx="4434840" cy="45720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619963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7A37"/>
                </a:solidFill>
                <a:latin typeface="Consolas"/>
              </a:rPr>
              <a:t>Avg 24 lines / tool  ·  ~5 min from idea to live in sandbox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17  / 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RUNTIME SKILL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Helvetica Neue"/>
              </a:rPr>
              <a:t>No skill for the question? </a:t>
            </a:r>
            <a:r>
              <a:rPr sz="2200" b="1">
                <a:solidFill>
                  <a:srgbClr val="00B14F"/>
                </a:solidFill>
                <a:latin typeface="Helvetica Neue"/>
              </a:rPr>
              <a:t>The planner composes one — at runtime.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NOVEL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659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 Neue"/>
              </a:rPr>
              <a:t>"Which Singapore vegetarian merchants are busy 10pm-2am AND have a driver with trust ≥ 0.85 within 5 minutes?"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40280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Helvetica Neue"/>
              </a:rPr>
              <a:t>Matches no single specialist. No pre-built tool covers all four predicates.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WHAT THE PLANNER DOES — IN ONE 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218688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82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Detects 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5643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list_available_tools() returns 38 names. None matches the compound predicate.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07A37"/>
                </a:solidFill>
                <a:latin typeface="Consolas"/>
              </a:rPr>
              <a:t>0.4s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22191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95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Composes a 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69663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Generates a focused sub-task prompt that sequences calls across tool boundaries.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005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07A37"/>
                </a:solidFill>
                <a:latin typeface="Consolas"/>
              </a:rPr>
              <a:t>in-line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5424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645152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451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6085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Selects a tool subset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82896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Picks just 3 tools: search_merchants · get_busy_zones · find_safe_late_night_drivers.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47183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07A37"/>
                </a:solidFill>
                <a:latin typeface="Consolas"/>
              </a:rPr>
              <a:t>in-line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48656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358384"/>
            <a:ext cx="411480" cy="41148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5838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3218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Helvetica Neue"/>
              </a:rPr>
              <a:t>Spawns an ephemeral worker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5961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spawn_specialist(name="sg_veg_late_night_with_trust", ...) runs to completion.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54315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007A37"/>
                </a:solidFill>
                <a:latin typeface="Consolas"/>
              </a:rPr>
              <a:t>1.4s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08076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172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ZERO CODE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617220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334155"/>
                </a:solidFill>
                <a:latin typeface="Helvetica Neue"/>
              </a:rPr>
              <a:t>The 39th skill didn't exist 30 seconds ago. It existed for one query, then vanished.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18  / 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REASONING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Helvetica Neue"/>
              </a:rPr>
              <a:t>Inside the agent's head — one query, step by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647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 Neue"/>
              </a:rPr>
              <a:t>"Plan my day — and tell me how much I'll have to set aside for tax."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1430000" cy="3749039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onsolas"/>
              </a:rPr>
              <a:t>agent_trace · driver_id=42 · model=Qwen3-235B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0B14F"/>
                </a:solidFill>
                <a:latin typeface="Consolas"/>
              </a:rPr>
              <a:t>[14:32:18]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9748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0B14F"/>
                </a:solidFill>
                <a:latin typeface="Consolas"/>
              </a:rPr>
              <a:t>classify(query) → intent=daily_plan + tax  → route=driver_success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306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[14:32:19] driver_success · step 1/8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930652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thought: surface today's optimized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382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           →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16382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get_driver_today_plan(driver_id=42)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9699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           →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396996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{schedule:[7am-9am Marina, 11am-1pm CBD], expected:$134}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301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[14:32:20] driver_success · step 2/8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63016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thought: need profile for context (zones, trust, schedule prefs)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6333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           →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863339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get_driver_profile(driver_id=42)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96511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           →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096511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{preferred_zones:[Marina,CBD], trust:0.87, country:SG}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29683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[14:32:21] driver_success · step 3/8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329683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thought: tax piece — pull country withholding rate + earnings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62855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           →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562855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C400"/>
                </a:solidFill>
                <a:latin typeface="Consolas"/>
              </a:rPr>
              <a:t>get_driver_earnings_summary(driver_id=42, period="week")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96027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           →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796027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onsolas"/>
              </a:rPr>
              <a:t>{week_earnings:$384, ytd:$8210, country:SG}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2919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[14:32:22] driver_success · step 4/8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029199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onsolas"/>
              </a:rPr>
              <a:t>thought: SG self-employment ≈ 11% × $384 = ~$42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62371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0B14F"/>
                </a:solidFill>
                <a:latin typeface="Consolas"/>
              </a:rPr>
              <a:t>           → synthesize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5262371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0B14F"/>
                </a:solidFill>
                <a:latin typeface="Consolas"/>
              </a:rPr>
              <a:t>compose plan + tax-set-aside guidance into one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95543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nsolas"/>
              </a:rPr>
              <a:t>           →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5495543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nsolas"/>
              </a:rPr>
              <a:t>"Today: Marina 7-9am, CBD 11-1pm. Set aside $42 — Fri rush +18%."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217920"/>
            <a:ext cx="11430000" cy="41148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2910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TRACEABLE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6291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334155"/>
                </a:solidFill>
                <a:latin typeface="Helvetica Neue"/>
              </a:rPr>
              <a:t>Every fact in the reply maps to a tool call. No invented numbers. Persisted to llm_call_logs + CloudWatch.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12  / 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PERSONALIZED CONTENT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Helvetica Neue"/>
              </a:rPr>
              <a:t>Every driver gets a tailored</a:t>
            </a:r>
          </a:p>
          <a:p>
            <a:pPr algn="l"/>
            <a:r>
              <a:rPr sz="3200" b="1" i="0">
                <a:solidFill>
                  <a:srgbClr val="0F172A"/>
                </a:solidFill>
                <a:latin typeface="Helvetica Neue"/>
              </a:rPr>
              <a:t>weekly financial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4572000" cy="4114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Helvetica Neue"/>
              </a:rPr>
              <a:t>Mon · 9:14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elvetica Neue"/>
              </a:rPr>
              <a:t>Your week, Aiden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12 May – 18 May  ·  Singapore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>You earned $384 — your typical $370 (±$40).</a:t>
            </a:r>
          </a:p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>Spent $142 on fuel, food and maintenance.</a:t>
            </a:r>
          </a:p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>Kept $42 in tax buffer (now at $268, on target).</a:t>
            </a:r>
          </a:p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/>
            </a:r>
          </a:p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>Your emergency fund grew to $620</a:t>
            </a:r>
          </a:p>
          <a:p>
            <a:pPr algn="l"/>
            <a:r>
              <a:rPr sz="1200" b="0" i="0">
                <a:solidFill>
                  <a:srgbClr val="E2E8F0"/>
                </a:solidFill>
                <a:latin typeface="Helvetica Neue"/>
              </a:rPr>
              <a:t>— 38% to your $1,650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77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669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MOVE FOR 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9436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Bump tax set-aside to $50 — Friday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Helvetica Neue"/>
              </a:rPr>
              <a:t>rush is forecast +18% above your avg.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06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Helvetica Neue"/>
              </a:rPr>
              <a:t>POWERED BY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2926080"/>
            <a:ext cx="164592" cy="164592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Income &amp; expenditure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4553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Categorized spend pulled from synthetic expense feed; 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MoM deltas surfaced automatically.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776472"/>
            <a:ext cx="164592" cy="164592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68503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Predictive cash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9592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scikit-learn quantile regressor projects next-4-week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earnings minus expenses with P10/P50/P90 bands.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4626864"/>
            <a:ext cx="164592" cy="164592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535424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Personalized tax set-aside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Country-aware withholding rates (SG / MY / ID / PH / TH).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Auto-adjusts weekly amount based on actual earnings.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0" y="5477255"/>
            <a:ext cx="164592" cy="164592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385816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Goal-aware nudges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967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Compares progress vs target date; surfaces one concrete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action the driver can take this week.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635508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Helvetica Neue"/>
              </a:rPr>
              <a:t>Generated entirely from the driver's own data — no invented numbers, fully traceable to source tools.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21  / 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FRAUD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Helvetica Neue"/>
              </a:rPr>
              <a:t>From </a:t>
            </a:r>
            <a:r>
              <a:rPr sz="2800" b="1">
                <a:solidFill>
                  <a:srgbClr val="64748B"/>
                </a:solidFill>
                <a:latin typeface="Helvetica Neue"/>
              </a:rPr>
              <a:t>score</a:t>
            </a:r>
            <a:r>
              <a:rPr sz="2800" b="1">
                <a:solidFill>
                  <a:srgbClr val="0F172A"/>
                </a:solidFill>
                <a:latin typeface="Helvetica Neue"/>
              </a:rPr>
              <a:t>  →  </a:t>
            </a:r>
            <a:r>
              <a:rPr sz="2800" b="1">
                <a:solidFill>
                  <a:srgbClr val="00B14F"/>
                </a:solidFill>
                <a:latin typeface="Helvetica Neue"/>
              </a:rPr>
              <a:t>act</a:t>
            </a:r>
            <a:r>
              <a:rPr sz="2800" b="1">
                <a:solidFill>
                  <a:srgbClr val="0F172A"/>
                </a:solidFill>
                <a:latin typeface="Helvetica Neue"/>
              </a:rPr>
              <a:t>  →  </a:t>
            </a:r>
            <a:r>
              <a:rPr sz="2800" b="1">
                <a:solidFill>
                  <a:srgbClr val="00B14F"/>
                </a:solidFill>
                <a:latin typeface="Helvetica Neue"/>
              </a:rPr>
              <a:t>recover.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Most fintech fraud systems stop at the alert. GrabWise closes the loop: a deterministic ML scorer flags the transaction, an action agent intervenes inside the same turn, and a generative agent hands the partner a personalized recovery plan in plain language — typically within minutes of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01 ·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Order Risk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2783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score_order_risk computes a 0–100 risk decision (approve / review / block)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from customer anomaly, driver trust, and transaction velocity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B14F"/>
                </a:solidFill>
                <a:latin typeface="Helvetica Neue"/>
              </a:rPr>
              <a:t>deterministic ML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02 · INTERVENE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78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Immediate Action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4515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freeze_account, add_to_watchlist, alert_user — write-tools that the agent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executes directly. No human-in-loop for clear-cut block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B14F"/>
                </a:solidFill>
                <a:latin typeface="Helvetica Neue"/>
              </a:rPr>
              <a:t>&lt;2 min mean time to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37"/>
                </a:solidFill>
                <a:latin typeface="Helvetica Neue"/>
              </a:rPr>
              <a:t>03 · RECOVER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Personalized Recovery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062472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generate_recovery_steps produces a per-user step list: verify SMS, audit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Helvetica Neue"/>
              </a:rPr>
              <a:t>recent orders, reset password, lift restrictions — tailored to the anomaly.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715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0B14F"/>
                </a:solidFill>
                <a:latin typeface="Helvetica Neue"/>
              </a:rPr>
              <a:t>actionable in plain 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22  / 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ENGINEERING DEPTH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Helvetica Neue"/>
              </a:rPr>
              <a:t>18 LLMs benchmarked.</a:t>
            </a:r>
          </a:p>
          <a:p>
            <a:pPr algn="l"/>
            <a:r>
              <a:rPr sz="3000" b="1" i="0">
                <a:solidFill>
                  <a:srgbClr val="0F172A"/>
                </a:solidFill>
                <a:latin typeface="Helvetica Neue"/>
              </a:rPr>
              <a:t>Every call costed and tagged.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7A37"/>
                </a:solidFill>
                <a:latin typeface="Helvetica Neu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LLMs benchmarked</a:t>
            </a:r>
          </a:p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Qwen3 · DeepSeek · GLM · Gemma · Nemotron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2316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5146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7A37"/>
                </a:solidFill>
                <a:latin typeface="Helvetica Neue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337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of agent calls logged</a:t>
            </a:r>
          </a:p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latency · tokens · USD cost · hallucination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2316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7A37"/>
                </a:solidFill>
                <a:latin typeface="Helvetica Neue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hallucination signals</a:t>
            </a:r>
          </a:p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unknown_tool · invalid_agent · null · exception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42316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51460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7A37"/>
                </a:solidFill>
                <a:latin typeface="Helvetica Neue"/>
              </a:rPr>
              <a:t>CloudWatch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375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metrics + structured logs</a:t>
            </a:r>
          </a:p>
          <a:p>
            <a:pPr algn="ctr"/>
            <a:r>
              <a:rPr sz="1000" b="0" i="0">
                <a:solidFill>
                  <a:srgbClr val="334155"/>
                </a:solidFill>
                <a:latin typeface="Helvetica Neue"/>
              </a:rPr>
              <a:t>namespace: GrabWise/LLM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Helvetica Neue"/>
              </a:rPr>
              <a:t>LIVE MODEL VERDICTS · LAST 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Qwen3 235B (2507)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5262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52628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182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52628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4.4% halluc.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52628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$0.31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553712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56285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Reliable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DeepSeek V3.2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463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84632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144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4632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5.6% halluc.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84632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4873752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882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Reliable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66359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>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6635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Qwen3 32B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16635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Reasoning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16635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221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66359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7.2% halluc.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66359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$0.07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193792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5202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Reliable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399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8639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GLM 4.7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48639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Fast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48639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  43 calls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486399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21.4% halluc.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486399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5513831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5522975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Flaky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806439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80643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Gemma 3 4B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80643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Fast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80643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  12 calls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5806439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58.3% halluc.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806439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5833871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5843015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Unreliable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126479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C400"/>
                </a:solidFill>
                <a:latin typeface="Helvetica Neue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612647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Helvetica Neue"/>
              </a:rPr>
              <a:t>Qwen3 Coder 480B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612647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Helvetica Neue"/>
              </a:rPr>
              <a:t>Code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6126479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  21 calls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6126479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42.8% halluc.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6126479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onsolas"/>
              </a:rPr>
              <a:t>$0.09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40" y="6153911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6163055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 Neue"/>
              </a:rPr>
              <a:t>Unreliable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24  / 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Tested on a 60,000-order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synthetic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974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00B14F"/>
                </a:solidFill>
                <a:latin typeface="Helvetica Neue"/>
              </a:rPr>
              <a:t>60K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7947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orders simulated</a:t>
            </a:r>
          </a:p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over 120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974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8346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00B14F"/>
                </a:solidFill>
                <a:latin typeface="Helvetica Neue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7947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drivers across</a:t>
            </a:r>
          </a:p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5 SEA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00B14F"/>
                </a:solidFill>
                <a:latin typeface="Helvetica Neue"/>
              </a:rPr>
              <a:t>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spatial grid cells</a:t>
            </a:r>
          </a:p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(10×10 per city)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697480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3464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00B14F"/>
                </a:solidFill>
                <a:latin typeface="Helvetica Neue"/>
              </a:rPr>
              <a:t>+24%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37947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earnings uplift</a:t>
            </a:r>
          </a:p>
          <a:p>
            <a:pPr algn="ctr"/>
            <a:r>
              <a:rPr sz="1100" b="0" i="0">
                <a:solidFill>
                  <a:srgbClr val="E2E8F0"/>
                </a:solidFill>
                <a:latin typeface="Helvetica Neue"/>
              </a:rPr>
              <a:t>vs naive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B14F"/>
                </a:solidFill>
                <a:latin typeface="Helvetica Neue"/>
              </a:rPr>
              <a:t>WHAT THIS UNLOCKS FOR A REAL PILOT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349240"/>
            <a:ext cx="109728" cy="10972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Helvetica Neue"/>
              </a:rPr>
              <a:t>Drivers reach savings goals 3-5x faster — auto tax buffer + nudges keep them on track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733288"/>
            <a:ext cx="109728" cy="10972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4184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Helvetica Neue"/>
              </a:rPr>
              <a:t>Fraud incidents resolved in &lt;2 hours vs. industry-typical 24-72 hours of frozen earnings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6117336"/>
            <a:ext cx="109728" cy="10972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602589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Helvetica Neue"/>
              </a:rPr>
              <a:t>Partner Net Promoter Score lifts when drivers feel the platform earns FOR them, not from them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Helvetica Neue"/>
              </a:rPr>
              <a:t>All numbers from internal test bed.  Pilot-ready architecture.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ra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662152" cy="137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B14F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B14F"/>
                </a:solidFill>
                <a:latin typeface="Consolas"/>
              </a:rPr>
              <a:t>25  / 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NOVELTY  ·  MARKET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Helvetica Neue"/>
              </a:rPr>
              <a:t>No SEA fintech ships agentic personalization
at </a:t>
            </a:r>
            <a:r>
              <a:rPr sz="2600" b="1">
                <a:solidFill>
                  <a:srgbClr val="00B14F"/>
                </a:solidFill>
                <a:latin typeface="Helvetica Neue"/>
              </a:rPr>
              <a:t>this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Recent moves from Gojek, ShopeePay, Maya, and Trust show the segment knows the problem — but their solutions are still rule-based, single-purpose, and consumer-generic. GrabWise is the first agentic, partner-tuned, multi-LLM platform purpose-built for the gig economy.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08960"/>
            <a:ext cx="1147572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3108960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RECENT MOVE  ·  2025-26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59" y="3108960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AI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108960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108960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AGENTIC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310896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B14F"/>
                </a:solidFill>
                <a:latin typeface="Helvetica Neue"/>
              </a:rPr>
              <a:t>GIG-NATIVE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9584"/>
            <a:ext cx="1147572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Gojek / GoTo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3529584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GoPaylater BNPL · Q1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529584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Rule-based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529584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Demographic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529584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  <a:latin typeface="Helvetica Neue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352958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Partial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50208"/>
            <a:ext cx="1147572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0208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ShopeePay / Sea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3950208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AI budgeting widget · Q4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950208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Chatbot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950208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950208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  <a:latin typeface="Helvetica Neue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9502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Generic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70832"/>
            <a:ext cx="1147572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70832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Maya Bank · 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39" y="4370832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Maya AI customer agent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4370832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Reactive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70832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Generic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370832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  <a:latin typeface="Helvetica Neue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437083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Generic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791456"/>
            <a:ext cx="1147572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791456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Helvetica Neue"/>
              </a:rPr>
              <a:t>Trust Bank · SG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39" y="4791456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Zero-fee banking + savings pots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4791456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None advertised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91456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791456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  <a:latin typeface="Helvetica Neue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791456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Generic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212080"/>
            <a:ext cx="11475720" cy="365760"/>
          </a:xfrm>
          <a:prstGeom prst="rect">
            <a:avLst/>
          </a:prstGeom>
          <a:solidFill>
            <a:srgbClr val="E6F7EE"/>
          </a:solidFill>
          <a:ln w="15240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212080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7A37"/>
                </a:solidFill>
                <a:latin typeface="Helvetica Neue"/>
              </a:rPr>
              <a:t>GRABWISE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39" y="5212080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22-slide agentic platform · 60K orders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5212080"/>
            <a:ext cx="22402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Multi-agent · 18 LLMs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212080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Helvetica Neue"/>
              </a:rPr>
              <a:t>Per-partner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212080"/>
            <a:ext cx="14173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Yes · runtime synthesis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52120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Native</a:t>
            </a:r>
          </a:p>
        </p:txBody>
      </p:sp>
      <p:sp>
        <p:nvSpPr>
          <p:cNvPr id="47" name="Oval 46"/>
          <p:cNvSpPr/>
          <p:nvPr/>
        </p:nvSpPr>
        <p:spPr>
          <a:xfrm>
            <a:off x="594360" y="5769864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72414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FIRST-MOVER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5724144"/>
            <a:ext cx="9098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No SEA fintech ships a multi-agent, runtime-extensible financial wellness platform for gig workers. GrabWise opens the category.</a:t>
            </a:r>
          </a:p>
        </p:txBody>
      </p:sp>
      <p:sp>
        <p:nvSpPr>
          <p:cNvPr id="50" name="Oval 49"/>
          <p:cNvSpPr/>
          <p:nvPr/>
        </p:nvSpPr>
        <p:spPr>
          <a:xfrm>
            <a:off x="594360" y="6025896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98017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DEFENSIBLE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5980176"/>
            <a:ext cx="9098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Built on Grab's data, trust, and reach — a moat a standalone fintech can't reproduce without rebuilding the platform.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6281928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62362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WIN-WIN-WIN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6236208"/>
            <a:ext cx="9098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Drivers get tailored tools · Grab differentiates with GenAI · GXS captures the gig segment incumbents can't service.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26  / 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430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Helvetica Neue"/>
              </a:rPr>
              <a:t>If this ships, it touches
</a:t>
            </a:r>
            <a:r>
              <a:rPr sz="3200" b="1">
                <a:solidFill>
                  <a:srgbClr val="00B14F"/>
                </a:solidFill>
                <a:latin typeface="Helvetica Neue"/>
              </a:rPr>
              <a:t>5 million lives across SEA.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97480"/>
            <a:ext cx="3749039" cy="324612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07A37"/>
                </a:solidFill>
                <a:latin typeface="Helvetica Neue"/>
              </a:rPr>
              <a:t>$1.8B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8444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Helvetica Neue"/>
              </a:rPr>
              <a:t>potential annual earnings uplift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5,000,000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931920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active Grab partners (SEA)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966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×  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4169663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median annual driver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7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×  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407407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DP-optimizer earnings lift (validated)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1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= $1.8B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645151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annual aggregate uplift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509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4748B"/>
                </a:solidFill>
                <a:latin typeface="Helvetica Neue"/>
              </a:rPr>
              <a:t>Source: Grab Partner Economy Brief 2025 · DP optimizer on 60K-order test bed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2697480"/>
            <a:ext cx="3749039" cy="324612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27889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07A37"/>
                </a:solidFill>
                <a:latin typeface="Helvetica Neue"/>
              </a:rPr>
              <a:t>48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58444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Helvetica Neue"/>
              </a:rPr>
              <a:t>shaved off every fraud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93192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50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19" y="3931920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industry median freeze window (24-72h)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16966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− 2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19" y="4169663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GrabWise mean time to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407407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= 48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19" y="4407407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earning-hours returned per 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4645151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× 30K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19" y="4645151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→ 1.4M hrs / yr across SEA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56509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4748B"/>
                </a:solidFill>
                <a:latin typeface="Helvetica Neue"/>
              </a:rPr>
              <a:t>Source: ASEAN Fintech Fraud Report 2024 · score→act→recover 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9" y="2697480"/>
            <a:ext cx="3749039" cy="324612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9525">
            <a:solidFill>
              <a:srgbClr val="00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278892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07A37"/>
                </a:solidFill>
                <a:latin typeface="Helvetica Neue"/>
              </a:rPr>
              <a:t>$268M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58444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Helvetica Neue"/>
              </a:rPr>
              <a:t>buffered in collective tax 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393192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5M ×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799" y="3931920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partners under-withholding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169663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×  $2,400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4169663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avg annual taxable earnings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4407407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×  11%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407407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country-aware self-employment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9" y="4645151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onsolas"/>
              </a:rPr>
              <a:t>≈ $268M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799" y="4645151"/>
            <a:ext cx="19659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auto-buffered annually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5650992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1">
                <a:solidFill>
                  <a:srgbClr val="64748B"/>
                </a:solidFill>
                <a:latin typeface="Helvetica Neue"/>
              </a:rPr>
              <a:t>Source: IRAS / LHDN / DJP self-employment guides</a:t>
            </a:r>
          </a:p>
        </p:txBody>
      </p:sp>
      <p:sp>
        <p:nvSpPr>
          <p:cNvPr id="40" name="Oval 39"/>
          <p:cNvSpPr/>
          <p:nvPr/>
        </p:nvSpPr>
        <p:spPr>
          <a:xfrm>
            <a:off x="594360" y="6126480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60807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FINANCIAL INCLUSION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60807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5M+ unbanked / underbanked workers gain predictive cash-flow modeling for the first time.</a:t>
            </a:r>
          </a:p>
        </p:txBody>
      </p:sp>
      <p:sp>
        <p:nvSpPr>
          <p:cNvPr id="43" name="Oval 42"/>
          <p:cNvSpPr/>
          <p:nvPr/>
        </p:nvSpPr>
        <p:spPr>
          <a:xfrm>
            <a:off x="594360" y="6327648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62819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PARTNER LOYALTY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628192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Partner NPS lifts when the platform demonstrably earns FOR partners, not just from them.</a:t>
            </a:r>
          </a:p>
        </p:txBody>
      </p:sp>
      <p:sp>
        <p:nvSpPr>
          <p:cNvPr id="46" name="Oval 45"/>
          <p:cNvSpPr/>
          <p:nvPr/>
        </p:nvSpPr>
        <p:spPr>
          <a:xfrm>
            <a:off x="594360" y="6528816"/>
            <a:ext cx="146304" cy="146304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64830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37"/>
                </a:solidFill>
                <a:latin typeface="Helvetica Neue"/>
              </a:rPr>
              <a:t>REGULATORY GOODWILL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6483096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Helvetica Neue"/>
              </a:rPr>
              <a:t>Proactive tax buffering + fraud recovery aligns with MAS, BNM, BSP, BI consumer-protection priorities.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27  / 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Helvetica Neue"/>
              </a:rPr>
              <a:t>Six weeks from prototype to</a:t>
            </a:r>
          </a:p>
          <a:p>
            <a:pPr algn="l"/>
            <a:r>
              <a:rPr sz="3200" b="1" i="0">
                <a:solidFill>
                  <a:srgbClr val="0F172A"/>
                </a:solidFill>
                <a:latin typeface="Helvetica Neue"/>
              </a:rPr>
              <a:t>200-driver Singapore pilot.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515600" cy="36576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3520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44168" y="358444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Expense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Connect to driver expense feed; backfill 30 days history.</a:t>
            </a:r>
          </a:p>
        </p:txBody>
      </p:sp>
      <p:sp>
        <p:nvSpPr>
          <p:cNvPr id="10" name="Oval 9"/>
          <p:cNvSpPr/>
          <p:nvPr/>
        </p:nvSpPr>
        <p:spPr>
          <a:xfrm>
            <a:off x="4069080" y="3520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33087" y="358444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3977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WEEK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251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Wellness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5720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Ship weekly report + tax set-aside + savings nudges.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520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22008" y="358444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WEEK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51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Fraud action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Wire freeze/alert/recover tools; pen-test the playbook.</a:t>
            </a:r>
          </a:p>
        </p:txBody>
      </p:sp>
      <p:sp>
        <p:nvSpPr>
          <p:cNvPr id="20" name="Oval 19"/>
          <p:cNvSpPr/>
          <p:nvPr/>
        </p:nvSpPr>
        <p:spPr>
          <a:xfrm>
            <a:off x="9646919" y="3520440"/>
            <a:ext cx="292608" cy="292608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10928" y="3584448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977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B14F"/>
                </a:solidFill>
                <a:latin typeface="Helvetica Neue"/>
              </a:rPr>
              <a:t>WEEK 4-6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251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Helvetica Neue"/>
              </a:rPr>
              <a:t>Closed-loop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5720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200 drivers; measure earnings lift + retention vs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692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424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THE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35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Six weeks. 200 drivers in Singapore. We measure the lift in earnings + retention vs control group.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28  / 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B14F"/>
                </a:solidFill>
                <a:latin typeface="Helvetica Neue"/>
              </a:rPr>
              <a:t>grabwise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Helvetica Neue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Helvetica Neue"/>
              </a:rPr>
              <a:t>To the Grab and Unstop teams — for organising and hosting GrabHack 2.0,</a:t>
            </a:r>
          </a:p>
          <a:p>
            <a:pPr algn="l"/>
            <a:r>
              <a:rPr sz="1500" b="0" i="0">
                <a:solidFill>
                  <a:srgbClr val="E2E8F0"/>
                </a:solidFill>
                <a:latin typeface="Helvetica Neue"/>
              </a:rPr>
              <a:t>and for building the kind of arena where 21 hours felt like a privilege.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Helvetica Neue"/>
              </a:rPr>
              <a:t>To the Grab team in particular — for the best food and snacks in SEA,</a:t>
            </a:r>
          </a:p>
          <a:p>
            <a:pPr algn="l"/>
            <a:r>
              <a:rPr sz="1500" b="0" i="0">
                <a:solidFill>
                  <a:srgbClr val="E2E8F0"/>
                </a:solidFill>
                <a:latin typeface="Helvetica Neue"/>
              </a:rPr>
              <a:t>and for connecting us with industry-leading mentors whose feedback</a:t>
            </a:r>
          </a:p>
          <a:p>
            <a:pPr algn="l"/>
            <a:r>
              <a:rPr sz="1500" b="0" i="0">
                <a:solidFill>
                  <a:srgbClr val="E2E8F0"/>
                </a:solidFill>
                <a:latin typeface="Helvetica Neue"/>
              </a:rPr>
              <a:t>reshaped this product from prototype to market-ready in a single night.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97880"/>
            <a:ext cx="457200" cy="36576"/>
          </a:xfrm>
          <a:prstGeom prst="rect">
            <a:avLst/>
          </a:prstGeom>
          <a:solidFill>
            <a:srgbClr val="00B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Pranathi Prabhala  ·  Palash Tamrakar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Helvetica Neue"/>
              </a:rPr>
              <a:t>Team prabhalapranathi  ·  GrabHack 2.0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B14F"/>
                </a:solidFill>
                <a:latin typeface="Helvetica Neue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Helvetica Neue"/>
              </a:rPr>
              <a:t>Four acts. Twenty-nine slides.
</a:t>
            </a:r>
            <a:r>
              <a:rPr sz="3000" b="1">
                <a:solidFill>
                  <a:srgbClr val="00B14F"/>
                </a:solidFill>
                <a:latin typeface="Helvetica Neue"/>
              </a:rPr>
              <a:t>Ten minutes to the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B14F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64261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INTRODUCTION &amp; IDEATION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026664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Problem  ·  Brief  ·  Approach  ·  21-hour Build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2788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007A37"/>
                </a:solidFill>
                <a:latin typeface="Consolas"/>
              </a:rPr>
              <a:t>Slides 3 – 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113385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93592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B14F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3016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DESIGN &amp; SOFTWARE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014216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Architecture  ·  Topology  ·  Trace  ·  Reasoning Log  ·  Tools  ·  Spawn  ·  Autonomy  ·  Adaptation  ·  DevExp  ·  Skill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3776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007A37"/>
                </a:solidFill>
                <a:latin typeface="Consolas"/>
              </a:rPr>
              <a:t>Slides 8 – 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53712"/>
            <a:ext cx="113385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81144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B14F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6177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PROPOSED SOLUTION &amp;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0017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EARN  ·  Daily Plan Optimizer        SAVE  ·  Personalized Coach        PROTECT  ·  Fraud 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764024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007A37"/>
                </a:solidFill>
                <a:latin typeface="Consolas"/>
              </a:rPr>
              <a:t>Slides 19 – 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41264"/>
            <a:ext cx="113385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68696"/>
            <a:ext cx="1097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B14F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60527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RESULTS &amp;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98932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Helvetica Neue"/>
              </a:rPr>
              <a:t>Observability  ·  Validation  ·  Market Position  ·  Impact  · 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575157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1">
                <a:solidFill>
                  <a:srgbClr val="007A37"/>
                </a:solidFill>
                <a:latin typeface="Consolas"/>
              </a:rPr>
              <a:t>Slides 23 – 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28816"/>
            <a:ext cx="113385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rab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"/>
            <a:ext cx="342900" cy="137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58000" y="41148"/>
            <a:ext cx="50292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007A37"/>
                </a:solidFill>
                <a:latin typeface="Helvetica Neue"/>
              </a:rPr>
              <a:t>GRABWISE  ·  GRABHACK 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93408"/>
            <a:ext cx="822960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Helvetica Neue"/>
              </a:rPr>
              <a:t>Team prabhalapranathi  ·  Pranathi Prabhala  ·  Palash Tamrakar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693408"/>
            <a:ext cx="269748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07A37"/>
                </a:solidFill>
                <a:latin typeface="Consolas"/>
              </a:rPr>
              <a:t>02  / 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143000"/>
            <a:ext cx="9144000" cy="9144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0"/>
            <a:ext cx="6858000" cy="68580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143000"/>
            <a:ext cx="4572000" cy="4572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57400"/>
            <a:ext cx="2743200" cy="27432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A2F"/>
                </a:solidFill>
                <a:latin typeface="Helvetica Neue"/>
              </a:rPr>
              <a:t>grabwise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A2F"/>
                </a:solidFill>
                <a:latin typeface="Consolas"/>
              </a:rPr>
              <a:t>STAGE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686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INTRODUCTION</a:t>
            </a:r>
          </a:p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&amp; IDEATION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004A2F"/>
                </a:solidFill>
                <a:latin typeface="Helvetica Neue"/>
              </a:rPr>
              <a:t>Why we're here. Where we started. How we built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66360"/>
            <a:ext cx="457200" cy="36576"/>
          </a:xfrm>
          <a:prstGeom prst="rect">
            <a:avLst/>
          </a:prstGeom>
          <a:solidFill>
            <a:srgbClr val="00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4A2F"/>
                </a:solidFill>
                <a:latin typeface="Consolas"/>
              </a:rPr>
              <a:t>WHAT'S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The problem  ·  traditional banking wasn't built for the gig economy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430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The brief  ·  three audiences, two exploration domains, six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62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Our approach  ·  not a chatbot — an agentic AI system that earns, saves, protects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8192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The 24-hour build log  ·  three mentor check-ins, zero hours of sleep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143000"/>
            <a:ext cx="9144000" cy="9144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0"/>
            <a:ext cx="6858000" cy="68580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143000"/>
            <a:ext cx="4572000" cy="4572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57400"/>
            <a:ext cx="2743200" cy="27432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A2F"/>
                </a:solidFill>
                <a:latin typeface="Helvetica Neue"/>
              </a:rPr>
              <a:t>grabwise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A2F"/>
                </a:solidFill>
                <a:latin typeface="Consolas"/>
              </a:rPr>
              <a:t>STAGE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686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DESIGN &amp; SOFTWARE</a:t>
            </a:r>
          </a:p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004A2F"/>
                </a:solidFill>
                <a:latin typeface="Helvetica Neue"/>
              </a:rPr>
              <a:t>The engine that powers GrabWise — every node, every loop, every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66360"/>
            <a:ext cx="457200" cy="36576"/>
          </a:xfrm>
          <a:prstGeom prst="rect">
            <a:avLst/>
          </a:prstGeom>
          <a:solidFill>
            <a:srgbClr val="00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4A2F"/>
                </a:solidFill>
                <a:latin typeface="Consolas"/>
              </a:rPr>
              <a:t>WHAT'S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Architecture overview  ·  five specialists + one supervisor + one 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430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LangGraph topology  ·  six stateful nodes, conditional edges, self-modifying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62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Workflow trace + reasoning log  ·  one query, eight LLM calls, every step traced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8192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38-tool registry + spawn runtime  ·  type-safe, allow-listed, ephemeral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50138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Autonomy + dynamic adaptation  ·  same graph, different traversal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7208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Developer experience + runtime skill synthesis  ·  add a tool in 24 lines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143000"/>
            <a:ext cx="9144000" cy="9144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0"/>
            <a:ext cx="6858000" cy="68580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143000"/>
            <a:ext cx="4572000" cy="4572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57400"/>
            <a:ext cx="2743200" cy="27432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A2F"/>
                </a:solidFill>
                <a:latin typeface="Helvetica Neue"/>
              </a:rPr>
              <a:t>grabwise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A2F"/>
                </a:solidFill>
                <a:latin typeface="Consolas"/>
              </a:rPr>
              <a:t>STAGE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686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PROPOSED SOLUTION</a:t>
            </a:r>
          </a:p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&amp;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004A2F"/>
                </a:solidFill>
                <a:latin typeface="Helvetica Neue"/>
              </a:rPr>
              <a:t>Three pillars. One multi-agent platform. What the partner actually 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66360"/>
            <a:ext cx="457200" cy="36576"/>
          </a:xfrm>
          <a:prstGeom prst="rect">
            <a:avLst/>
          </a:prstGeom>
          <a:solidFill>
            <a:srgbClr val="00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4A2F"/>
                </a:solidFill>
                <a:latin typeface="Consolas"/>
              </a:rPr>
              <a:t>WHAT'S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EARN  ·  Daily Plan Optimizer — +24% route earnings via DP over 500 cells × 24h × 7d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430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SAVE  ·  Personalized Wellness Coach — weekly report, tax buffer, savings nudges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62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PROTECT  ·  Fraud Mitigation Agent — score → act → recover in under 2 minutes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143000"/>
            <a:ext cx="9144000" cy="9144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0"/>
            <a:ext cx="6858000" cy="68580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143000"/>
            <a:ext cx="4572000" cy="4572000"/>
          </a:xfrm>
          <a:prstGeom prst="ellipse">
            <a:avLst/>
          </a:prstGeom>
          <a:solidFill>
            <a:srgbClr val="23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057400"/>
            <a:ext cx="2743200" cy="2743200"/>
          </a:xfrm>
          <a:prstGeom prst="ellipse">
            <a:avLst/>
          </a:prstGeom>
          <a:solidFill>
            <a:srgbClr val="C8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4A2F"/>
                </a:solidFill>
                <a:latin typeface="Helvetica Neue"/>
              </a:rPr>
              <a:t>grabwise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4A2F"/>
                </a:solidFill>
                <a:latin typeface="Consolas"/>
              </a:rPr>
              <a:t>STAGE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8686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RESULTS</a:t>
            </a:r>
          </a:p>
          <a:p>
            <a:pPr algn="l"/>
            <a:r>
              <a:rPr sz="4400" b="1" i="0">
                <a:solidFill>
                  <a:srgbClr val="004A2F"/>
                </a:solidFill>
                <a:latin typeface="Helvetica Neue"/>
              </a:rPr>
              <a:t>&amp;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004A2F"/>
                </a:solidFill>
                <a:latin typeface="Helvetica Neue"/>
              </a:rPr>
              <a:t>Did it work? Does it matter? What's the path from prototype to pilot?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66360"/>
            <a:ext cx="457200" cy="36576"/>
          </a:xfrm>
          <a:prstGeom prst="rect">
            <a:avLst/>
          </a:prstGeom>
          <a:solidFill>
            <a:srgbClr val="00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4A2F"/>
                </a:solidFill>
                <a:latin typeface="Consolas"/>
              </a:rPr>
              <a:t>WHAT'S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Observability  ·  18 LLMs benchmarked, every call costed and hallucination-tagged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430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Validation  ·  60K-order synthetic ecosystem, 200 drivers across 5 SEA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62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Market position  ·  first-mover vs Gojek / Shopee / Maya /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81928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Impact projection  ·  $1.8B earnings uplift  ·  $268M tax buffers  ·  48h faster fraud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50138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4A2F"/>
                </a:solidFill>
                <a:latin typeface="Helvetica Neue"/>
              </a:rPr>
              <a:t>·  Roadmap  ·  six weeks from prototype to 200-driver Singapore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